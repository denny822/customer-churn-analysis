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us Jakarta Sans"/>
      <p:bold r:id="rId13"/>
      <p:italic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20505"/>
            <a:ext cx="106680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52050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194619"/>
            <a:ext cx="9101137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Space Grotesk"/>
              </a:rPr>
              <a:t>Customer Churn Analysis &amp; Retention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68005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Identifying high-risk customer segments, quantifying revenue exposure, and building targeted retention interventions.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796730"/>
            <a:ext cx="30837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PRIMARY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77705"/>
            <a:ext cx="3083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55.6% Churn in Monthly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3775" y="4796730"/>
            <a:ext cx="2381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REVENUE EXPOSED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3775" y="4977705"/>
            <a:ext cx="238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Plus Jakarta Sans"/>
              </a:rPr>
              <a:t>18.7% of Monthly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3575" y="4796730"/>
            <a:ext cx="2881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DATA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3575" y="4977705"/>
            <a:ext cx="2881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SQL • SQLite • Python • Pandas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33662"/>
            <a:ext cx="3454449" cy="2524125"/>
          </a:xfrm>
          <a:prstGeom prst="roundRect">
            <a:avLst>
              <a:gd name="adj" fmla="val 60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447925"/>
            <a:ext cx="3454449" cy="2895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747962"/>
            <a:ext cx="3454449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384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27527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0527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062287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474" y="287655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724" y="3176587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649" y="3819525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649" y="4076700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649" y="4591050"/>
            <a:ext cx="12382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STRATEGIC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Business Problem &amp; Analytical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86162"/>
            <a:ext cx="37338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Core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8587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Unplanned subscriber loss directly erodes recurring revenue and customer lifetime value in subscription OTT models.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649" y="3400425"/>
            <a:ext cx="37338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Key Questions Answered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899" y="3700462"/>
            <a:ext cx="37338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Target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899" y="4052887"/>
            <a:ext cx="29400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Transform data insights into actionable retention playbooks for high-value and high-risk customer segments.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3649" y="3752850"/>
            <a:ext cx="3556062" cy="2571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Who: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Segmenting high-risk accounts.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649" y="4010025"/>
            <a:ext cx="2940099" cy="5143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Why: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Identifying product and support drivers.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649" y="4524375"/>
            <a:ext cx="2940099" cy="5143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Value: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Quantifying total financial exposure.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67000"/>
            <a:ext cx="3194000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98925" y="2667000"/>
            <a:ext cx="3194000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88250" y="2667000"/>
            <a:ext cx="3194000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2905125"/>
            <a:ext cx="65722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37050" y="2905125"/>
            <a:ext cx="67627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26375" y="2905125"/>
            <a:ext cx="67627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200" y="3438525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525" y="3438525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057900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975" y="2938462"/>
            <a:ext cx="1905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500" y="2938462"/>
            <a:ext cx="1143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1726" y="2938462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TECHNICAL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Relational Data Model &amp; Analytics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6067425"/>
            <a:ext cx="10870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Transformation Stack: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SQL relational join on </a:t>
            </a:r>
            <a:r>
              <a:rPr sz="1050" b="0" i="1" u="none">
                <a:solidFill>
                  <a:srgbClr val="1E40AF"/>
                </a:solidFill>
                <a:latin typeface="Plus Jakarta Sans"/>
              </a:rPr>
              <a:t>customerid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→ Feature engineering in Pandas (churn flags, tenure calculation, risk segmentation).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276600"/>
            <a:ext cx="356704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db_customer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571875"/>
            <a:ext cx="3397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Demographics &amp; 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857625"/>
            <a:ext cx="281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Key Fields: </a:t>
            </a:r>
            <a:r>
              <a:rPr sz="975" b="1" i="0" u="none">
                <a:solidFill>
                  <a:srgbClr val="334155"/>
                </a:solidFill>
                <a:latin typeface="Plus Jakarta Sans"/>
              </a:rPr>
              <a:t>customerid, country, state, gender, dob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7050" y="3276600"/>
            <a:ext cx="356704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db_subscription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7050" y="3571875"/>
            <a:ext cx="3397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Commercial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7050" y="3857625"/>
            <a:ext cx="281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Key Fields: </a:t>
            </a:r>
            <a:r>
              <a:rPr sz="975" b="1" i="0" u="none">
                <a:solidFill>
                  <a:srgbClr val="334155"/>
                </a:solidFill>
                <a:latin typeface="Plus Jakarta Sans"/>
              </a:rPr>
              <a:t>plan_type, contract_type, monthly_charges, cltv, churn_score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6375" y="3276600"/>
            <a:ext cx="35656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db_support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6375" y="3571875"/>
            <a:ext cx="3397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Support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6375" y="3857625"/>
            <a:ext cx="281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Key Fields: </a:t>
            </a:r>
            <a:r>
              <a:rPr sz="975" b="1" i="0" u="none">
                <a:solidFill>
                  <a:srgbClr val="334155"/>
                </a:solidFill>
                <a:latin typeface="Plus Jakarta Sans"/>
              </a:rPr>
              <a:t>complaint_date, escalations, csat_score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2943225"/>
            <a:ext cx="600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Plus Jakarta Sans"/>
              </a:rPr>
              <a:t>TABLE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3250" y="2943225"/>
            <a:ext cx="619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Plus Jakarta Sans"/>
              </a:rPr>
              <a:t>TABLE 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2575" y="2943225"/>
            <a:ext cx="619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Plus Jakarta Sans"/>
              </a:rPr>
              <a:t>TABLE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245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52737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852737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852737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852737"/>
            <a:ext cx="2600325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852737"/>
            <a:ext cx="38100" cy="1381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00425" y="2852737"/>
            <a:ext cx="38100" cy="1381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0" y="2852737"/>
            <a:ext cx="38100" cy="13811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82075" y="2852737"/>
            <a:ext cx="38100" cy="13811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KPI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6076950"/>
            <a:ext cx="3131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Total Monthly Charges Tracked: </a:t>
            </a:r>
            <a:r>
              <a:rPr sz="1050" b="1" i="0" u="none">
                <a:solidFill>
                  <a:srgbClr val="334155"/>
                </a:solidFill>
                <a:latin typeface="Plus Jakarta Sans"/>
              </a:rPr>
              <a:t>395.79K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325" y="6076950"/>
            <a:ext cx="2464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Support Escalation Rate: </a:t>
            </a:r>
            <a:r>
              <a:rPr sz="1050" b="1" i="0" u="none">
                <a:solidFill>
                  <a:srgbClr val="334155"/>
                </a:solidFill>
                <a:latin typeface="Plus Jakarta Sans"/>
              </a:rPr>
              <a:t>19.0%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3050" y="6076950"/>
            <a:ext cx="2738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Escalation-Churn Correlation: </a:t>
            </a:r>
            <a:r>
              <a:rPr sz="1050" b="1" i="0" u="none">
                <a:solidFill>
                  <a:srgbClr val="334155"/>
                </a:solidFill>
                <a:latin typeface="Plus Jakarta Sans"/>
              </a:rPr>
              <a:t>0.47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081337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OVERALL CHURN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309937"/>
            <a:ext cx="2631281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28.6%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852862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DC2626"/>
                </a:solidFill>
                <a:latin typeface="Plus Jakarta Sans"/>
              </a:rPr>
              <a:t>6 of 21 Customers Lost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7125" y="3081337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RETENTION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7125" y="3309937"/>
            <a:ext cx="2631281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71.4%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7125" y="3852862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59669"/>
                </a:solidFill>
                <a:latin typeface="Plus Jakarta Sans"/>
              </a:rPr>
              <a:t>15 Active Subscribers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3081337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REVENUE EXPOSED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3309937"/>
            <a:ext cx="2631281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18.7%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950" y="3852862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D97706"/>
                </a:solidFill>
                <a:latin typeface="Plus Jakarta Sans"/>
              </a:rPr>
              <a:t>73.94K Revenue at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8775" y="3081337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AVERAGE TENURE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3309937"/>
            <a:ext cx="2631281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lus Jakarta Sans"/>
              </a:rPr>
              <a:t>1,560d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3852862"/>
            <a:ext cx="2631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F46E5"/>
                </a:solidFill>
                <a:latin typeface="Plus Jakarta Sans"/>
              </a:rPr>
              <a:t>ARPU: 18.85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5295900" cy="5010150"/>
          </a:xfrm>
          <a:prstGeom prst="roundRect">
            <a:avLst>
              <a:gd name="adj" fmla="val 30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1390650"/>
            <a:ext cx="5295900" cy="5010150"/>
          </a:xfrm>
          <a:prstGeom prst="roundRect">
            <a:avLst>
              <a:gd name="adj" fmla="val 30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6300" y="3805237"/>
            <a:ext cx="47625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6300" y="4376737"/>
            <a:ext cx="47625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53200" y="3557587"/>
            <a:ext cx="47625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53200" y="4090987"/>
            <a:ext cx="47625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53200" y="4624387"/>
            <a:ext cx="47625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6300" y="3805237"/>
            <a:ext cx="2647950" cy="1524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6300" y="4376737"/>
            <a:ext cx="395287" cy="152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53200" y="3557587"/>
            <a:ext cx="2857500" cy="1524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53200" y="4090987"/>
            <a:ext cx="1057275" cy="152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53200" y="4624387"/>
            <a:ext cx="681037" cy="152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STRUCTURAL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Churn Concentration by Contract &amp; Plan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981700"/>
            <a:ext cx="595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Monthly subscribers churn at nearly 7x the rate of annual subscribers.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5981700"/>
            <a:ext cx="5638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Basic plan tier requires value proposition re-evaluation.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1657350"/>
            <a:ext cx="62507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Contract Type Disparity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1914525"/>
            <a:ext cx="5953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Monthly contracts drive massive turnover.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1657350"/>
            <a:ext cx="5638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Plan Tier Vulnerability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1914525"/>
            <a:ext cx="5638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Basic tiers suffer the highest churn.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576637"/>
            <a:ext cx="1400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Monthly 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0650" y="3576637"/>
            <a:ext cx="7239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Plus Jakarta Sans"/>
              </a:rPr>
              <a:t>55.6%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4148137"/>
            <a:ext cx="13144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Annual 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850" y="4148137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8.3%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3328987"/>
            <a:ext cx="914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Basic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0" y="3328987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Plus Jakarta Sans"/>
              </a:rPr>
              <a:t>60.0%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3862387"/>
            <a:ext cx="11620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Standard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96600" y="3862387"/>
            <a:ext cx="7048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22.2%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200" y="4395787"/>
            <a:ext cx="1143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Premium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96600" y="4395787"/>
            <a:ext cx="7048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14.3%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5334000" cy="5010150"/>
          </a:xfrm>
          <a:prstGeom prst="roundRect">
            <a:avLst>
              <a:gd name="adj" fmla="val 30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90650"/>
            <a:ext cx="5334000" cy="5010150"/>
          </a:xfrm>
          <a:prstGeom prst="roundRect">
            <a:avLst>
              <a:gd name="adj" fmla="val 30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735585"/>
            <a:ext cx="4781550" cy="514350"/>
          </a:xfrm>
          <a:prstGeom prst="roundRect">
            <a:avLst>
              <a:gd name="adj" fmla="val 14814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5038725"/>
            <a:ext cx="4781550" cy="108585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5825" y="2445990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5825" y="2825055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5825" y="3204120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5825" y="2445990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5825" y="2825055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5825" y="3204120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81162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681162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PATTERN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Geographic &amp; Monthly Cancellation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666875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Regional Concentrations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076450"/>
            <a:ext cx="5976937" cy="302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Karnataka </a:t>
            </a:r>
            <a:r>
              <a:rPr sz="1050" b="1" i="0" u="none">
                <a:solidFill>
                  <a:srgbClr val="EF4444"/>
                </a:solidFill>
                <a:latin typeface="Plus Jakarta Sans"/>
              </a:rPr>
              <a:t>100% (2/2 lost)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455515"/>
            <a:ext cx="5976937" cy="302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Meghalaya </a:t>
            </a:r>
            <a:r>
              <a:rPr sz="1050" b="1" i="0" u="none">
                <a:solidFill>
                  <a:srgbClr val="0F172A"/>
                </a:solidFill>
                <a:latin typeface="Plus Jakarta Sans"/>
              </a:rPr>
              <a:t>66.7%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834580"/>
            <a:ext cx="5976937" cy="3028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Telangana </a:t>
            </a:r>
            <a:r>
              <a:rPr sz="1050" b="1" i="0" u="none">
                <a:solidFill>
                  <a:srgbClr val="0F172A"/>
                </a:solidFill>
                <a:latin typeface="Plus Jakarta Sans"/>
              </a:rPr>
              <a:t>50.0%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251745"/>
            <a:ext cx="5976937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Delhi </a:t>
            </a:r>
            <a:r>
              <a:rPr sz="1050" b="1" i="0" u="none">
                <a:solidFill>
                  <a:srgbClr val="0F172A"/>
                </a:solidFill>
                <a:latin typeface="Plus Jakarta Sans"/>
              </a:rPr>
              <a:t>25.0%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3849885"/>
            <a:ext cx="4648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Plus Jakarta Sans"/>
              </a:rPr>
              <a:t>Investigative Signal:</a:t>
            </a:r>
            <a:r>
              <a:rPr sz="900" b="0" i="0" u="none">
                <a:solidFill>
                  <a:srgbClr val="991B1B"/>
                </a:solidFill>
                <a:latin typeface="Plus Jakarta Sans"/>
              </a:rPr>
              <a:t> Karnataka outlier suggests potential localized technical or streaming performance issues.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2076450"/>
            <a:ext cx="48768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Cancellation distribution shows a distinct concentration spike in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September 2024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with 2 customer losses, compared to a baseline of 1 loss per active month.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5056" y="5229225"/>
            <a:ext cx="5500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PEAK SPIKE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5056" y="5410200"/>
            <a:ext cx="550068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4F46E5"/>
                </a:solidFill>
                <a:latin typeface="Plus Jakarta Sans"/>
              </a:rPr>
              <a:t>Sept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5056" y="5781675"/>
            <a:ext cx="55006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34155"/>
                </a:solidFill>
                <a:latin typeface="Plus Jakarta Sans"/>
              </a:rPr>
              <a:t>33.3% of total churn recorded in a single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0375" y="1666875"/>
            <a:ext cx="21502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Monthly Trend Peak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800600"/>
            <a:ext cx="10972800" cy="49530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53000"/>
            <a:ext cx="142875" cy="1905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457450"/>
          <a:ext cx="10972796" cy="2076450"/>
        </p:xfrm>
        <a:graphic>
          <a:graphicData uri="http://schemas.openxmlformats.org/drawingml/2006/table">
            <a:tbl>
              <a:tblPr/>
              <a:tblGrid>
                <a:gridCol w="1534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0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4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1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Risk Tier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Score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Total Customers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Churned Customers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Monthly Exposure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Total CLTV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High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Churn Score ≥ 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6 (100% Churn)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73.94K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2,047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Medium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Churn Score 40–69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0 (0% Churn)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34.98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1,190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Low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Churn Score &lt; 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0 (0% Churn)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286.87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14,057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FINANCIAL RISK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Customer Risk Segmentation &amp;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" y="4962525"/>
            <a:ext cx="9822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Validation: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Existing </a:t>
            </a:r>
            <a:r>
              <a:rPr sz="1050" b="0" i="1" u="none">
                <a:solidFill>
                  <a:srgbClr val="1E40AF"/>
                </a:solidFill>
                <a:latin typeface="Plus Jakarta Sans"/>
              </a:rPr>
              <a:t>churn_score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metric exhibits perfect precision—100% of customers flagged in High Risk ultimately churned.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5768726" cy="5010150"/>
          </a:xfrm>
          <a:prstGeom prst="roundRect">
            <a:avLst>
              <a:gd name="adj" fmla="val 30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83126" y="1390650"/>
            <a:ext cx="4899273" cy="5010150"/>
          </a:xfrm>
          <a:prstGeom prst="roundRect">
            <a:avLst>
              <a:gd name="adj" fmla="val 31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59351" y="3370808"/>
            <a:ext cx="4346823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2076450"/>
            <a:ext cx="5216276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2619375"/>
            <a:ext cx="5216276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3162300"/>
            <a:ext cx="5216276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3705225"/>
            <a:ext cx="5216276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5825" y="4248150"/>
            <a:ext cx="5216276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30551" y="2200275"/>
            <a:ext cx="809625" cy="18097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06751" y="2743200"/>
            <a:ext cx="733425" cy="18097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06751" y="3286125"/>
            <a:ext cx="733425" cy="18097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06751" y="3829050"/>
            <a:ext cx="733425" cy="18097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06751" y="4371975"/>
            <a:ext cx="733425" cy="180975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CUSTOMER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Cancellation Reasons &amp; Support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1666875"/>
            <a:ext cx="684636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Primary Stated Reasons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9351" y="5819775"/>
            <a:ext cx="444207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Takeaway: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A single support escalation is a high-priority trigger for immediate customer success intervention.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351" y="1666875"/>
            <a:ext cx="52326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Support Early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9351" y="2000250"/>
            <a:ext cx="4442073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Support escalation exhibits a strong positive correlation with customer exit.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3655" y="3608933"/>
            <a:ext cx="48382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CORRELATION COEFFICIENT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3655" y="3828008"/>
            <a:ext cx="4838216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4F46E5"/>
                </a:solidFill>
                <a:latin typeface="Plus Jakarta Sans"/>
              </a:rPr>
              <a:t>+0.47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3655" y="4485233"/>
            <a:ext cx="483821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334155"/>
                </a:solidFill>
                <a:latin typeface="Plus Jakarta Sans"/>
              </a:rPr>
              <a:t>Support Escalation vs Churn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2205037"/>
            <a:ext cx="1940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Switched to Competitor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5801" y="2219325"/>
            <a:ext cx="7143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2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2747962"/>
            <a:ext cx="1181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Too Expensive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2001" y="276225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FAFC"/>
                </a:solidFill>
                <a:latin typeface="Plus Jakarta Sans"/>
              </a:rPr>
              <a:t>1 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3290887"/>
            <a:ext cx="1619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Not Enough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2001" y="3305175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FAFC"/>
                </a:solidFill>
                <a:latin typeface="Plus Jakarta Sans"/>
              </a:rPr>
              <a:t>1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50" y="3833812"/>
            <a:ext cx="1833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Poor Streaming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2001" y="384810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FAFC"/>
                </a:solidFill>
                <a:latin typeface="Plus Jakarta Sans"/>
              </a:rPr>
              <a:t>1 Account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" y="4376737"/>
            <a:ext cx="1654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Forgot to Cancel Trial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2001" y="4391025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1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390650"/>
            <a:ext cx="3505200" cy="501015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390650"/>
            <a:ext cx="35052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1390650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1390650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ACTION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Strategic Retention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695450"/>
            <a:ext cx="3067050" cy="1249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Plus Jakarta Sans"/>
              </a:rPr>
              <a:t>PRIORITY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991225"/>
            <a:ext cx="3714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Plus Jakarta Sans"/>
              </a:rPr>
              <a:t>Target: Reduce 55.6% Monthly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1695450"/>
            <a:ext cx="3067050" cy="1249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97706"/>
                </a:solidFill>
                <a:latin typeface="Plus Jakarta Sans"/>
              </a:rPr>
              <a:t>PRIORITY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5991225"/>
            <a:ext cx="3714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97706"/>
                </a:solidFill>
                <a:latin typeface="Plus Jakarta Sans"/>
              </a:rPr>
              <a:t>Target: Fix Product-Value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1695450"/>
            <a:ext cx="3067050" cy="1036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C2626"/>
                </a:solidFill>
                <a:latin typeface="Plus Jakarta Sans"/>
              </a:rPr>
              <a:t>PRIORITY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5991225"/>
            <a:ext cx="3714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C2626"/>
                </a:solidFill>
                <a:latin typeface="Plus Jakarta Sans"/>
              </a:rPr>
              <a:t>Target: Protect 73.94K At-Risk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1971675"/>
            <a:ext cx="39004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Contract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305050"/>
            <a:ext cx="30670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Launch monthly-to-annual migration campaigns offering modest discounts to capture long-term retention.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100" y="1971675"/>
            <a:ext cx="39004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Basic Tier Revamp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2305050"/>
            <a:ext cx="30670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Re-evaluate Basic plan content access, ad frequency, and price elasticity to address 60% tier churn.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1971675"/>
            <a:ext cx="3848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Early-Warning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900" y="2305050"/>
            <a:ext cx="30670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Trigger proactive outreach upon any escalation or when </a:t>
            </a:r>
            <a:r>
              <a:rPr sz="1050" b="0" i="1" u="none">
                <a:solidFill>
                  <a:srgbClr val="475569"/>
                </a:solidFill>
                <a:latin typeface="Plus Jakarta Sans"/>
              </a:rPr>
              <a:t>churn_score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crosses 70.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5334000" cy="5010150"/>
          </a:xfrm>
          <a:prstGeom prst="roundRect">
            <a:avLst>
              <a:gd name="adj" fmla="val 30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90650"/>
            <a:ext cx="5334000" cy="5010150"/>
          </a:xfrm>
          <a:prstGeom prst="roundRect">
            <a:avLst>
              <a:gd name="adj" fmla="val 30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109787"/>
            <a:ext cx="133350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376487"/>
            <a:ext cx="13335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643187"/>
            <a:ext cx="13335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109787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376487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643187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Plus Jakarta Sans"/>
              </a:rPr>
              <a:t>SCOPE &amp;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Limitations &amp; Next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1666875"/>
            <a:ext cx="62757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Analytical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1666875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Expansion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038350"/>
            <a:ext cx="5976937" cy="2667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Sample Size: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Sample constrained to 21 customer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305050"/>
            <a:ext cx="5976937" cy="2667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Causality: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Diagnostic findings indicate association, not proved causation.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571750"/>
            <a:ext cx="5976937" cy="2667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Model Origin: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</a:t>
            </a:r>
            <a:r>
              <a:rPr sz="1050" b="0" i="1" u="none">
                <a:solidFill>
                  <a:srgbClr val="475569"/>
                </a:solidFill>
                <a:latin typeface="Plus Jakarta Sans"/>
              </a:rPr>
              <a:t>churn_score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pre-existed in source 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2038350"/>
            <a:ext cx="5667375" cy="2667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Data Scale: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Expand dataset to full historical production database.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2305050"/>
            <a:ext cx="5667375" cy="2667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ML Pipeline: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Train custom predictive ML models for real-time scoring.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2571750"/>
            <a:ext cx="5667375" cy="2667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Geo Audit: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Investigate regional infrastructure quality in Karnataka.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86137" y="4430017"/>
            <a:ext cx="5419725" cy="447675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43537" y="1980307"/>
            <a:ext cx="13049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818CF8"/>
                </a:solidFill>
                <a:latin typeface="Plus Jakarta San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835" y="2266057"/>
            <a:ext cx="10626328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Space Grotesk"/>
              </a:rPr>
              <a:t>Transforming Support &amp; Contract Signals into Sustained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500437"/>
            <a:ext cx="7739062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By migrating monthly subscribers, stabilizing the basic plan, and leveraging early support warnings, we can secure at-risk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36143" y="4568130"/>
            <a:ext cx="2643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E2E8F0"/>
                </a:solidFill>
                <a:latin typeface="Plus Jakarta Sans"/>
              </a:rPr>
              <a:t>Questions &amp; Executive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0737" y="4553842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1237" y="4568130"/>
            <a:ext cx="2667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818CF8"/>
                </a:solidFill>
                <a:latin typeface="Plus Jakarta Sans"/>
              </a:rPr>
              <a:t>Customer Churn Analytics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772</Words>
  <Application>Microsoft Office PowerPoint</Application>
  <PresentationFormat>Widescreen</PresentationFormat>
  <Paragraphs>157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Space Grotesk</vt:lpstr>
      <vt:lpstr>Plus Jakarta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 Baraik</cp:lastModifiedBy>
  <cp:revision>2</cp:revision>
  <dcterms:created xsi:type="dcterms:W3CDTF">2013-01-27T09:14:16Z</dcterms:created>
  <dcterms:modified xsi:type="dcterms:W3CDTF">2026-10-14T14:04:19Z</dcterms:modified>
  <cp:category/>
</cp:coreProperties>
</file>